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55279" y="-182880"/>
            <a:ext cx="4572000" cy="7315200"/>
          </a:xfrm>
          <a:prstGeom prst="roundRect">
            <a:avLst>
              <a:gd name="adj" fmla="val 12000"/>
            </a:avLst>
          </a:prstGeom>
          <a:solidFill>
            <a:srgbClr val="0F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49640" y="1965960"/>
            <a:ext cx="118872" cy="2468880"/>
          </a:xfrm>
          <a:prstGeom prst="roundRect">
            <a:avLst>
              <a:gd name="adj" fmla="val 12000"/>
            </a:avLst>
          </a:prstGeom>
          <a:solidFill>
            <a:srgbClr val="5DE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16567" y="2130552"/>
            <a:ext cx="118872" cy="2240280"/>
          </a:xfrm>
          <a:prstGeom prst="roundRect">
            <a:avLst>
              <a:gd name="adj" fmla="val 12000"/>
            </a:avLst>
          </a:prstGeom>
          <a:solidFill>
            <a:srgbClr val="B6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83496" y="2295144"/>
            <a:ext cx="118872" cy="2011680"/>
          </a:xfrm>
          <a:prstGeom prst="roundRect">
            <a:avLst>
              <a:gd name="adj" fmla="val 12000"/>
            </a:avLst>
          </a:prstGeom>
          <a:solidFill>
            <a:srgbClr val="5DE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50424" y="2459736"/>
            <a:ext cx="118872" cy="1783080"/>
          </a:xfrm>
          <a:prstGeom prst="roundRect">
            <a:avLst>
              <a:gd name="adj" fmla="val 12000"/>
            </a:avLst>
          </a:prstGeom>
          <a:solidFill>
            <a:srgbClr val="B6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926080"/>
            <a:ext cx="320040" cy="118872"/>
          </a:xfrm>
          <a:prstGeom prst="roundRect">
            <a:avLst>
              <a:gd name="adj" fmla="val 12000"/>
            </a:avLst>
          </a:prstGeom>
          <a:solidFill>
            <a:srgbClr val="3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05088" y="2926080"/>
            <a:ext cx="320040" cy="118872"/>
          </a:xfrm>
          <a:prstGeom prst="roundRect">
            <a:avLst>
              <a:gd name="adj" fmla="val 12000"/>
            </a:avLst>
          </a:prstGeom>
          <a:solidFill>
            <a:srgbClr val="3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72016" y="2926080"/>
            <a:ext cx="320040" cy="118872"/>
          </a:xfrm>
          <a:prstGeom prst="roundRect">
            <a:avLst>
              <a:gd name="adj" fmla="val 12000"/>
            </a:avLst>
          </a:prstGeom>
          <a:solidFill>
            <a:srgbClr val="3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38944" y="2926080"/>
            <a:ext cx="320040" cy="118872"/>
          </a:xfrm>
          <a:prstGeom prst="roundRect">
            <a:avLst>
              <a:gd name="adj" fmla="val 12000"/>
            </a:avLst>
          </a:prstGeom>
          <a:solidFill>
            <a:srgbClr val="3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405872" y="2926080"/>
            <a:ext cx="320040" cy="118872"/>
          </a:xfrm>
          <a:prstGeom prst="roundRect">
            <a:avLst>
              <a:gd name="adj" fmla="val 12000"/>
            </a:avLst>
          </a:prstGeom>
          <a:solidFill>
            <a:srgbClr val="3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E4D5"/>
                </a:solidFill>
                <a:latin typeface="Aptos"/>
              </a:defRPr>
            </a:pPr>
            <a:r>
              <a:t>OSSP HACKATHON  •  TEAM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08760"/>
            <a:ext cx="6766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EF3FF"/>
                </a:solidFill>
                <a:latin typeface="Aptos Display"/>
              </a:defRPr>
            </a:pPr>
            <a:r>
              <a:t>FILE</a:t>
            </a:r>
            <a:br/>
            <a:r>
              <a:t>DEDUPLICATION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8E9EBB"/>
                </a:solidFill>
                <a:latin typeface="Aptos"/>
              </a:defRPr>
            </a:pPr>
            <a:r>
              <a:t>Find identical content. Reclaim wasted space.</a:t>
            </a:r>
            <a:br/>
            <a:r>
              <a:t>Keep the files that matter.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709160"/>
            <a:ext cx="2971800" cy="502920"/>
          </a:xfrm>
          <a:prstGeom prst="roundRect">
            <a:avLst>
              <a:gd name="adj" fmla="val 12000"/>
            </a:avLst>
          </a:prstGeom>
          <a:solidFill>
            <a:srgbClr val="163039"/>
          </a:solidFill>
          <a:ln>
            <a:solidFill>
              <a:srgbClr val="286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37176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DE4D5"/>
                </a:solidFill>
                <a:latin typeface="Aptos"/>
              </a:defRPr>
            </a:pPr>
            <a:r>
              <a:t>SHA-256  /  LOCAL-FIRST  /  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264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E9EBB"/>
                </a:solidFill>
                <a:latin typeface="Aptos"/>
              </a:defRPr>
            </a:pPr>
            <a:r>
              <a:t>TEAM NO. / MEMBERS: ADD YOUR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394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EF3FF"/>
                </a:solidFill>
                <a:latin typeface="Aptos"/>
              </a:defRPr>
            </a:pPr>
            <a:r>
              <a:t>CONTENT-BASED MATCHING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DE4D5"/>
                </a:solidFill>
                <a:latin typeface="Aptos"/>
              </a:defRPr>
            </a:pPr>
            <a:r>
              <a:t>01 /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EF3FF"/>
                </a:solidFill>
                <a:latin typeface="Aptos Display"/>
              </a:defRPr>
            </a:pPr>
            <a:r>
              <a:t>Storage waste hides in plain 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E9EBB"/>
                </a:solidFill>
                <a:latin typeface="Aptos"/>
              </a:defRPr>
            </a:pPr>
            <a:r>
              <a:t>Different filenames can contain exactly the same bytes.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E9EB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74720" cy="205740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7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514600"/>
            <a:ext cx="91440" cy="384048"/>
          </a:xfrm>
          <a:prstGeom prst="roundRect">
            <a:avLst>
              <a:gd name="adj" fmla="val 12000"/>
            </a:avLst>
          </a:prstGeom>
          <a:solidFill>
            <a:srgbClr val="5DE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23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E4D5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54680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EF3FF"/>
                </a:solidFill>
                <a:latin typeface="Aptos"/>
              </a:defRPr>
            </a:pPr>
            <a:r>
              <a:t>Repeated downloads, backups, and copies waste disk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40280"/>
            <a:ext cx="3474720" cy="205740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7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2514600"/>
            <a:ext cx="91440" cy="384048"/>
          </a:xfrm>
          <a:prstGeom prst="roundRect">
            <a:avLst>
              <a:gd name="adj" fmla="val 12000"/>
            </a:avLst>
          </a:prstGeom>
          <a:solidFill>
            <a:srgbClr val="B6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523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69AFF"/>
                </a:solidFill>
                <a:latin typeface="Aptos"/>
              </a:defRPr>
            </a:pPr>
            <a:r>
              <a:t>WHY NAME MATCHING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154680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EF3FF"/>
                </a:solidFill>
                <a:latin typeface="Aptos"/>
              </a:defRPr>
            </a:pPr>
            <a:r>
              <a:t>The same content can be saved under different names.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240280"/>
            <a:ext cx="3474720" cy="205740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7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49640" y="2514600"/>
            <a:ext cx="91440" cy="384048"/>
          </a:xfrm>
          <a:prstGeom prst="roundRect">
            <a:avLst>
              <a:gd name="adj" fmla="val 12000"/>
            </a:avLst>
          </a:prstGeom>
          <a:solidFill>
            <a:srgbClr val="72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523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2E6B0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3154680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EF3FF"/>
                </a:solidFill>
                <a:latin typeface="Aptos"/>
              </a:defRPr>
            </a:pPr>
            <a:r>
              <a:t>Fingerprint file contents and group exact matches.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EF3FF"/>
                </a:solidFill>
                <a:latin typeface="Aptos"/>
              </a:defRPr>
            </a:pPr>
            <a:r>
              <a:t>Goal: detect exact duplicates, estimate recoverable storage, and let users choose what to remove.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DE4D5"/>
                </a:solidFill>
                <a:latin typeface="Aptos"/>
              </a:defRPr>
            </a:pPr>
            <a:r>
              <a:t>02 /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EF3FF"/>
                </a:solidFill>
                <a:latin typeface="Aptos Display"/>
              </a:defRPr>
            </a:pPr>
            <a:r>
              <a:t>A practical local-first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E9EBB"/>
                </a:solidFill>
                <a:latin typeface="Aptos"/>
              </a:defRPr>
            </a:pPr>
            <a:r>
              <a:t>The user stays in control from scan to cleanup.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E9EB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2011680" cy="201168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93A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DE4D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3FF"/>
                </a:solidFill>
                <a:latin typeface="Aptos"/>
              </a:defRPr>
            </a:pPr>
            <a:r>
              <a:t>Choose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6732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E9EBB"/>
                </a:solidFill>
                <a:latin typeface="Aptos"/>
              </a:defRPr>
            </a:pPr>
            <a:r>
              <a:t>User selects a specific directory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1176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5DE4D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2468880"/>
            <a:ext cx="2011680" cy="201168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93A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DE4D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3200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3FF"/>
                </a:solidFill>
                <a:latin typeface="Aptos"/>
              </a:defRPr>
            </a:pPr>
            <a:r>
              <a:t>Read &amp; hash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376732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E9EBB"/>
                </a:solidFill>
                <a:latin typeface="Aptos"/>
              </a:defRPr>
            </a:pPr>
            <a:r>
              <a:t>Stream bytes into SHA-256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5DE4D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2936" y="2468880"/>
            <a:ext cx="2011680" cy="201168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93A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5816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DE4D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5816" y="3200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3FF"/>
                </a:solidFill>
                <a:latin typeface="Aptos"/>
              </a:defRPr>
            </a:pPr>
            <a:r>
              <a:t>Group matches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376732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E9EBB"/>
                </a:solidFill>
                <a:latin typeface="Aptos"/>
              </a:defRPr>
            </a:pPr>
            <a:r>
              <a:t>Compare size and digest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5DE4D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2468880"/>
            <a:ext cx="2011680" cy="201168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93A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DE4D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5823" y="3200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3FF"/>
                </a:solidFill>
                <a:latin typeface="Aptos"/>
              </a:defRPr>
            </a:pPr>
            <a:r>
              <a:t>Review savings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3" y="376732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E9EBB"/>
                </a:solidFill>
                <a:latin typeface="Aptos"/>
              </a:defRPr>
            </a:pPr>
            <a:r>
              <a:t>Show duplicates and recoverable bytes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5DE4D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02952" y="2468880"/>
            <a:ext cx="2011680" cy="201168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93A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5832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DE4D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5832" y="3200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3FF"/>
                </a:solidFill>
                <a:latin typeface="Aptos"/>
              </a:defRPr>
            </a:pPr>
            <a:r>
              <a:t>Confirm cleanup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5832" y="376732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E9EBB"/>
                </a:solidFill>
                <a:latin typeface="Aptos"/>
              </a:defRPr>
            </a:pPr>
            <a:r>
              <a:t>Remove selected extra copies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74920"/>
            <a:ext cx="10789920" cy="658368"/>
          </a:xfrm>
          <a:prstGeom prst="roundRect">
            <a:avLst>
              <a:gd name="adj" fmla="val 12000"/>
            </a:avLst>
          </a:prstGeom>
          <a:solidFill>
            <a:srgbClr val="182B30"/>
          </a:solidFill>
          <a:ln>
            <a:solidFill>
              <a:srgbClr val="285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76088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2E6B0"/>
                </a:solidFill>
                <a:latin typeface="Aptos"/>
              </a:defRPr>
            </a:pPr>
            <a:r>
              <a:t>SAFETY RULE: one recommended original per group is preserved; deletion requires explicit confirmation.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DE4D5"/>
                </a:solidFill>
                <a:latin typeface="Aptos"/>
              </a:defRPr>
            </a:pPr>
            <a:r>
              <a:t>03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EF3FF"/>
                </a:solidFill>
                <a:latin typeface="Aptos Display"/>
              </a:defRPr>
            </a:pPr>
            <a:r>
              <a:t>Small stack. Real filesystem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E9EBB"/>
                </a:solidFill>
                <a:latin typeface="Aptos"/>
              </a:defRPr>
            </a:pPr>
            <a:r>
              <a:t>No cloud upload and no third-party runtime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E9EB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7772400" cy="82296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109728" cy="822960"/>
          </a:xfrm>
          <a:prstGeom prst="roundRect">
            <a:avLst>
              <a:gd name="adj" fmla="val 12000"/>
            </a:avLst>
          </a:prstGeom>
          <a:solidFill>
            <a:srgbClr val="5DE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671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DE4D5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671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3FF"/>
                </a:solidFill>
                <a:latin typeface="Aptos"/>
              </a:defRPr>
            </a:pPr>
            <a:r>
              <a:t>HTML · CSS · Vanilla 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167128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E9EBB"/>
                </a:solidFill>
                <a:latin typeface="Aptos"/>
              </a:defRPr>
            </a:pPr>
            <a:r>
              <a:t>Dashboard, scan input, results, exports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8712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DE4D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00400"/>
            <a:ext cx="7772400" cy="82296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200400"/>
            <a:ext cx="109728" cy="822960"/>
          </a:xfrm>
          <a:prstGeom prst="roundRect">
            <a:avLst>
              <a:gd name="adj" fmla="val 12000"/>
            </a:avLst>
          </a:prstGeom>
          <a:solidFill>
            <a:srgbClr val="B6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3101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9AFF"/>
                </a:solidFill>
                <a:latin typeface="Aptos"/>
              </a:defRPr>
            </a:pPr>
            <a:r>
              <a:t>LOCAL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3101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3FF"/>
                </a:solidFill>
                <a:latin typeface="Aptos"/>
              </a:defRPr>
            </a:pPr>
            <a:r>
              <a:t>Node.js HTTP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310128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E9EBB"/>
                </a:solidFill>
                <a:latin typeface="Aptos"/>
              </a:defRPr>
            </a:pPr>
            <a:r>
              <a:t>Validates requests and directory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01421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DE4D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43400"/>
            <a:ext cx="7772400" cy="82296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B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343400"/>
            <a:ext cx="109728" cy="822960"/>
          </a:xfrm>
          <a:prstGeom prst="roundRect">
            <a:avLst>
              <a:gd name="adj" fmla="val 12000"/>
            </a:avLst>
          </a:prstGeom>
          <a:solidFill>
            <a:srgbClr val="72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4531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2E6B0"/>
                </a:solidFill>
                <a:latin typeface="Aptos"/>
              </a:defRPr>
            </a:pPr>
            <a:r>
              <a:t>OS FILE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4531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3FF"/>
                </a:solidFill>
                <a:latin typeface="Aptos"/>
              </a:defRPr>
            </a:pPr>
            <a:r>
              <a:t>fs · path · crypto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4453128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E9EBB"/>
                </a:solidFill>
                <a:latin typeface="Aptos"/>
              </a:defRPr>
            </a:pPr>
            <a:r>
              <a:t>Directory traversal, streaming, SHA-256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057400"/>
            <a:ext cx="2148840" cy="3108960"/>
          </a:xfrm>
          <a:prstGeom prst="roundRect">
            <a:avLst>
              <a:gd name="adj" fmla="val 12000"/>
            </a:avLst>
          </a:prstGeom>
          <a:solidFill>
            <a:srgbClr val="122430"/>
          </a:solidFill>
          <a:ln>
            <a:solidFill>
              <a:srgbClr val="2A5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DE4D5"/>
                </a:solidFill>
                <a:latin typeface="Aptos"/>
              </a:defRPr>
            </a:pPr>
            <a:r>
              <a:t>LOCAL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063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EF3FF"/>
                </a:solidFill>
                <a:latin typeface="Aptos"/>
              </a:defRPr>
            </a:pPr>
            <a:r>
              <a:t>127.0.0.1</a:t>
            </a:r>
            <a:br/>
            <a:br/>
            <a:r>
              <a:t>Files remain</a:t>
            </a:r>
            <a:br/>
            <a:r>
              <a:t>on the device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DE4D5"/>
                </a:solidFill>
                <a:latin typeface="Aptos"/>
              </a:defRPr>
            </a:pPr>
            <a:r>
              <a:t>04 /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EF3FF"/>
                </a:solidFill>
                <a:latin typeface="Aptos Display"/>
              </a:defRPr>
            </a:pPr>
            <a:r>
              <a:t>How exact duplicate detection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E9EBB"/>
                </a:solidFill>
                <a:latin typeface="Aptos"/>
              </a:defRPr>
            </a:pPr>
            <a:r>
              <a:t>A filename is a label. A hash is a content fingerprint.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E9EB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DE4D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011680"/>
            <a:ext cx="10131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EF3FF"/>
                </a:solidFill>
                <a:latin typeface="Aptos"/>
              </a:defRPr>
            </a:pPr>
            <a:r>
              <a:t>Traverse regular files recursively; skip symbolic links and selected system clutter.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DE4D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651760"/>
            <a:ext cx="10131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EF3FF"/>
                </a:solidFill>
                <a:latin typeface="Aptos"/>
              </a:defRPr>
            </a:pPr>
            <a:r>
              <a:t>Use file size as a quick filter, then calculate a SHA-256 digest from the file bytes.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DE4D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291840"/>
            <a:ext cx="10131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EF3FF"/>
                </a:solidFill>
                <a:latin typeface="Aptos"/>
              </a:defRPr>
            </a:pPr>
            <a:r>
              <a:t>Group files only when both size and digest match.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DE4D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931920"/>
            <a:ext cx="10131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EF3FF"/>
                </a:solidFill>
                <a:latin typeface="Aptos"/>
              </a:defRPr>
            </a:pPr>
            <a:r>
              <a:t>For a group of n equal-sized files: recoverable bytes = file size × (n − 1).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DE4D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572000"/>
            <a:ext cx="10131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EF3FF"/>
                </a:solidFill>
                <a:latin typeface="Aptos"/>
              </a:defRPr>
            </a:pPr>
            <a:r>
              <a:t>Stream file contents to avoid loading an entire large file into memory.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86400"/>
            <a:ext cx="10241280" cy="502920"/>
          </a:xfrm>
          <a:prstGeom prst="roundRect">
            <a:avLst>
              <a:gd name="adj" fmla="val 12000"/>
            </a:avLst>
          </a:prstGeom>
          <a:solidFill>
            <a:srgbClr val="172638"/>
          </a:solidFill>
          <a:ln>
            <a:solidFill>
              <a:srgbClr val="304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632704"/>
            <a:ext cx="9784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DE4D5"/>
                </a:solidFill>
                <a:latin typeface="Aptos"/>
              </a:defRPr>
            </a:pPr>
            <a:r>
              <a:t>SAME BYTES + SAME SIZE + SAME SHA-256  →  DUPLICATE 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DE4D5"/>
                </a:solidFill>
                <a:latin typeface="Aptos"/>
              </a:defRPr>
            </a:pPr>
            <a:r>
              <a:t>05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EF3FF"/>
                </a:solidFill>
                <a:latin typeface="Aptos Display"/>
              </a:defRPr>
            </a:pPr>
            <a:r>
              <a:t>Built with dependable, explainable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E9EBB"/>
                </a:solidFill>
                <a:latin typeface="Aptos"/>
              </a:defRPr>
            </a:pPr>
            <a:r>
              <a:t>Designed to run locally with Node.js 18+ and no npm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E9EB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219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DE4D5"/>
                </a:solidFill>
                <a:latin typeface="Aptos"/>
              </a:defRPr>
            </a:pPr>
            <a:r>
              <a:t>HTML5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E9EBB"/>
                </a:solidFill>
                <a:latin typeface="Aptos"/>
              </a:defRPr>
            </a:pPr>
            <a:r>
              <a:t>Semantic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057400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219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69AFF"/>
                </a:solidFill>
                <a:latin typeface="Aptos"/>
              </a:defRPr>
            </a:pPr>
            <a:r>
              <a:t>CSS3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2432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E9EBB"/>
                </a:solidFill>
                <a:latin typeface="Aptos"/>
              </a:defRPr>
            </a:pPr>
            <a:r>
              <a:t>Responsive dark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057400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2219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DE4D5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2432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E9EBB"/>
                </a:solidFill>
                <a:latin typeface="Aptos"/>
              </a:defRPr>
            </a:pPr>
            <a:r>
              <a:t>UI state and API requests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393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69AFF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416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E9EBB"/>
                </a:solidFill>
                <a:latin typeface="Aptos"/>
              </a:defRPr>
            </a:pPr>
            <a:r>
              <a:t>Local HTTP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474720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6393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DE4D5"/>
                </a:solidFill>
                <a:latin typeface="Aptos"/>
              </a:defRPr>
            </a:pPr>
            <a:r>
              <a:t>fs /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0416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E9EBB"/>
                </a:solidFill>
                <a:latin typeface="Aptos"/>
              </a:defRPr>
            </a:pPr>
            <a:r>
              <a:t>File traversal and path 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474720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6393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69AFF"/>
                </a:solidFill>
                <a:latin typeface="Aptos"/>
              </a:defRPr>
            </a:pPr>
            <a:r>
              <a:t>crypto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0416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E9EBB"/>
                </a:solidFill>
                <a:latin typeface="Aptos"/>
              </a:defRPr>
            </a:pPr>
            <a:r>
              <a:t>Streaming SHA-256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035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EF3FF"/>
                </a:solidFill>
                <a:latin typeface="Aptos"/>
              </a:defRPr>
            </a:pPr>
            <a:r>
              <a:t>API endpoints: GET /api/status  •  POST /api/scan  •  POST /api/delete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DE4D5"/>
                </a:solidFill>
                <a:latin typeface="Aptos"/>
              </a:defRPr>
            </a:pPr>
            <a:r>
              <a:t>06 / 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EF3FF"/>
                </a:solidFill>
                <a:latin typeface="Aptos Display"/>
              </a:defRPr>
            </a:pPr>
            <a:r>
              <a:t>Prove it with a controlled test folder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E9EBB"/>
                </a:solidFill>
                <a:latin typeface="Aptos"/>
              </a:defRPr>
            </a:pPr>
            <a:r>
              <a:t>Use disposable test files during the live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E9EB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025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DE4D5"/>
                </a:solidFill>
                <a:latin typeface="Aptos"/>
              </a:defRPr>
            </a:pPr>
            <a:r>
              <a:t>IDENTICAL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EF3FF"/>
                </a:solidFill>
                <a:latin typeface="Aptos"/>
              </a:defRPr>
            </a:pPr>
            <a:r>
              <a:t>Two files, same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2E6B0"/>
                </a:solidFill>
                <a:latin typeface="Aptos"/>
              </a:defRPr>
            </a:pPr>
            <a:r>
              <a:t>✓  One duplicate 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025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DE4D5"/>
                </a:solidFill>
                <a:latin typeface="Aptos"/>
              </a:defRPr>
            </a:pPr>
            <a:r>
              <a:t>UNIQUE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1343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EF3FF"/>
                </a:solidFill>
                <a:latin typeface="Aptos"/>
              </a:defRPr>
            </a:pPr>
            <a:r>
              <a:t>Different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2E6B0"/>
                </a:solidFill>
                <a:latin typeface="Aptos"/>
              </a:defRPr>
            </a:pPr>
            <a:r>
              <a:t>✓  Not marked duplicate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3697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DE4D5"/>
                </a:solidFill>
                <a:latin typeface="Aptos"/>
              </a:defRPr>
            </a:pPr>
            <a:r>
              <a:t>SAVINGS MATH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4787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EF3FF"/>
                </a:solidFill>
                <a:latin typeface="Aptos"/>
              </a:defRPr>
            </a:pPr>
            <a:r>
              <a:t>Three copies of size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2E6B0"/>
                </a:solidFill>
                <a:latin typeface="Aptos"/>
              </a:defRPr>
            </a:pPr>
            <a:r>
              <a:t>✓  Recoverable = 2 ×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1089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3697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DE4D5"/>
                </a:solidFill>
                <a:latin typeface="Aptos"/>
              </a:defRPr>
            </a:pPr>
            <a:r>
              <a:t>INVALID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4787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EF3FF"/>
                </a:solidFill>
                <a:latin typeface="Aptos"/>
              </a:defRPr>
            </a:pPr>
            <a:r>
              <a:t>Nonexistent folder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2E6B0"/>
                </a:solidFill>
                <a:latin typeface="Aptos"/>
              </a:defRPr>
            </a:pPr>
            <a:r>
              <a:t>✓  Clear error message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4340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7141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DE4D5"/>
                </a:solidFill>
                <a:latin typeface="Aptos"/>
              </a:defRPr>
            </a:pPr>
            <a:r>
              <a:t>CLEANUP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EF3FF"/>
                </a:solidFill>
                <a:latin typeface="Aptos"/>
              </a:defRPr>
            </a:pPr>
            <a:r>
              <a:t>Select extra copy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2E6B0"/>
                </a:solidFill>
                <a:latin typeface="Aptos"/>
              </a:defRPr>
            </a:pPr>
            <a:r>
              <a:t>✓  Confirmation + rescan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34340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141D30"/>
          </a:solidFill>
          <a:ln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47141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DE4D5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8231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EF3FF"/>
                </a:solidFill>
                <a:latin typeface="Aptos"/>
              </a:defRPr>
            </a:pPr>
            <a:r>
              <a:t>Generate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2E6B0"/>
                </a:solidFill>
                <a:latin typeface="Aptos"/>
              </a:defRPr>
            </a:pPr>
            <a:r>
              <a:t>✓  CSV / JSON download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DE4D5"/>
                </a:solidFill>
                <a:latin typeface="Aptos"/>
              </a:defRPr>
            </a:pPr>
            <a:r>
              <a:t>07 / IMPACT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EF3FF"/>
                </a:solidFill>
                <a:latin typeface="Aptos Display"/>
              </a:defRPr>
            </a:pPr>
            <a:r>
              <a:t>From storage clutter to measurable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E9EBB"/>
                </a:solidFill>
                <a:latin typeface="Aptos"/>
              </a:defRPr>
            </a:pPr>
            <a:r>
              <a:t>A focused prototype with a clear path to production readiness.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E9EB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DE4D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965960"/>
            <a:ext cx="6291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EF3FF"/>
                </a:solidFill>
                <a:latin typeface="Aptos"/>
              </a:defRPr>
            </a:pPr>
            <a:r>
              <a:t>Improves disk-space utilization and reduces manual cleanup effort.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60904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DE4D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660904"/>
            <a:ext cx="6291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EF3FF"/>
                </a:solidFill>
                <a:latin typeface="Aptos"/>
              </a:defRPr>
            </a:pPr>
            <a:r>
              <a:t>Local processing avoids uploading file contents to a remote service.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55848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DE4D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355848"/>
            <a:ext cx="6291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EF3FF"/>
                </a:solidFill>
                <a:latin typeface="Aptos"/>
              </a:defRPr>
            </a:pPr>
            <a:r>
              <a:t>Useful for downloads, project folders, and repeated backup copies.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50791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DE4D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050791"/>
            <a:ext cx="6291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EF3FF"/>
                </a:solidFill>
                <a:latin typeface="Aptos"/>
              </a:defRPr>
            </a:pPr>
            <a:r>
              <a:t>Future scope: quarantine/recovery, incremental scans, filters, audit log.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965960"/>
            <a:ext cx="3474720" cy="3200400"/>
          </a:xfrm>
          <a:prstGeom prst="roundRect">
            <a:avLst>
              <a:gd name="adj" fmla="val 12000"/>
            </a:avLst>
          </a:prstGeom>
          <a:solidFill>
            <a:srgbClr val="132730"/>
          </a:solidFill>
          <a:ln>
            <a:solidFill>
              <a:srgbClr val="2D6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E4D5"/>
                </a:solidFill>
                <a:latin typeface="Aptos"/>
              </a:defRPr>
            </a:pPr>
            <a:r>
              <a:t>LIVE DEMO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788920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DE4D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788920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EF3FF"/>
                </a:solidFill>
                <a:latin typeface="Aptos"/>
              </a:defRPr>
            </a:pPr>
            <a:r>
              <a:t>Open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218687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DE4D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3218687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EF3FF"/>
                </a:solidFill>
                <a:latin typeface="Aptos"/>
              </a:defRPr>
            </a:pPr>
            <a:r>
              <a:t>Scan test directory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648456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DE4D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648456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EF3FF"/>
                </a:solidFill>
                <a:latin typeface="Aptos"/>
              </a:defRPr>
            </a:pPr>
            <a:r>
              <a:t>Show matching hashes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078224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DE4D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4078224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EF3FF"/>
                </a:solidFill>
                <a:latin typeface="Aptos"/>
              </a:defRPr>
            </a:pPr>
            <a:r>
              <a:t>Explain savings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4507992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DE4D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4507992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EF3FF"/>
                </a:solidFill>
                <a:latin typeface="Aptos"/>
              </a:defRPr>
            </a:pPr>
            <a:r>
              <a:t>Export CSV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DE4D5"/>
                </a:solidFill>
                <a:latin typeface="Aptos Display"/>
              </a:defRPr>
            </a:pPr>
            <a: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